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30575" cy="6858000"/>
          </a:xfrm>
          <a:prstGeom prst="rect">
            <a:avLst/>
          </a:prstGeom>
          <a:solidFill>
            <a:srgbClr val="19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port_im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1143000" cy="12184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484632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644"/>
                </a:solidFill>
              </a:defRPr>
            </a:pPr>
            <a:r>
              <a:t>IILM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A5DA0"/>
                </a:solidFill>
              </a:defRPr>
            </a:pPr>
            <a:r>
              <a:t>INTERNSHIP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2644"/>
                </a:solidFill>
                <a:latin typeface="Aptos Display"/>
              </a:defRPr>
            </a:pPr>
            <a:r>
              <a:t>PROMPT ENGINEERING</a:t>
            </a:r>
            <a:br/>
            <a:r>
              <a:t>AND GENERATIVE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5204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C80"/>
                </a:solidFill>
              </a:defRPr>
            </a:pPr>
            <a:r>
              <a:t>Internship Project &amp; Learning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72000"/>
            <a:ext cx="7680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2272E"/>
                </a:solidFill>
                <a:latin typeface="Aptos"/>
              </a:defRPr>
            </a:pPr>
            <a:r>
              <a:t>Student: Shashank Raj</a:t>
            </a:r>
          </a:p>
          <a:p>
            <a:pPr>
              <a:spcAft>
                <a:spcPts val="700"/>
              </a:spcAft>
              <a:defRPr sz="1400">
                <a:solidFill>
                  <a:srgbClr val="22272E"/>
                </a:solidFill>
                <a:latin typeface="Aptos"/>
              </a:defRPr>
            </a:pPr>
            <a:r>
              <a:t>Enrollment No.: 25SCS1003001227</a:t>
            </a:r>
          </a:p>
          <a:p>
            <a:pPr>
              <a:spcAft>
                <a:spcPts val="700"/>
              </a:spcAft>
              <a:defRPr sz="1400">
                <a:solidFill>
                  <a:srgbClr val="22272E"/>
                </a:solidFill>
                <a:latin typeface="Aptos"/>
              </a:defRPr>
            </a:pPr>
            <a:r>
              <a:t>Program &amp; Semester: B.Tech CSE • Batch 2025–29 • 2CSE_14</a:t>
            </a:r>
          </a:p>
          <a:p>
            <a:pPr>
              <a:spcAft>
                <a:spcPts val="700"/>
              </a:spcAft>
              <a:defRPr sz="1400">
                <a:solidFill>
                  <a:srgbClr val="22272E"/>
                </a:solidFill>
                <a:latin typeface="Aptos"/>
              </a:defRPr>
            </a:pPr>
            <a:r>
              <a:t>Organization: InAmigos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5394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2026–27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96596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1" y="149047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4076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490472"/>
            <a:ext cx="253288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Core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Practical learning in prompt engineering and Generative AI through structured activities.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25880"/>
            <a:ext cx="3429000" cy="196596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35424" y="149047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54076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1490472"/>
            <a:ext cx="253288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Learning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01168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Create → test → observe → compare → refine → document.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325880"/>
            <a:ext cx="3429000" cy="196596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66175" y="149047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154076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5" y="1490472"/>
            <a:ext cx="25328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Practical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01168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AI-assisted planning, learning, communication, decision-making, interviews and project organization.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Four supplied activities formed the internship scope: Prompt Creation, Prompt Improvement, Prompt Role-Play and Prompt Workflow.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Central insight: clearer instructions produce more relevant, structured and actionable AI responses.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Responsible AI use emphasized verification, independent thinking and avoiding blind copying.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Organization &amp; Internship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6636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InAmigos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09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The report places the internship in the context of an educational and skill-development programme associated with InAmigos Foundation.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34440"/>
            <a:ext cx="534924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9903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Nature of the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The supplied activities emphasize practical AI literacy, experimentation, comparison of approaches and documentation of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The internship focused on prompt-engineering skills rather than development of a production AI model.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Activities applied Generative AI to education, planning, communication, career preparation, decision-making and project organization.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The report deliberately avoids unsupported statutory or institutional claims about the organization.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03520" cy="192024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Vague AI requests can produce technically reasonable answers that do not match the user's actual purpose. The internship explored how structure changes response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143000"/>
            <a:ext cx="5074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22272E"/>
                </a:solidFill>
                <a:latin typeface="Aptos"/>
              </a:defRPr>
            </a:pPr>
            <a:r>
              <a:t>• Understand how prompt wording affects relevance, quality and usefulness.</a:t>
            </a:r>
          </a:p>
          <a:p>
            <a:pPr>
              <a:spcAft>
                <a:spcPts val="900"/>
              </a:spcAft>
              <a:defRPr sz="1350">
                <a:solidFill>
                  <a:srgbClr val="22272E"/>
                </a:solidFill>
                <a:latin typeface="Aptos"/>
              </a:defRPr>
            </a:pPr>
            <a:r>
              <a:t>• Construct prompts using role, context, objective, audience, constraints, examples and output format.</a:t>
            </a:r>
          </a:p>
          <a:p>
            <a:pPr>
              <a:spcAft>
                <a:spcPts val="900"/>
              </a:spcAft>
              <a:defRPr sz="1350">
                <a:solidFill>
                  <a:srgbClr val="22272E"/>
                </a:solidFill>
                <a:latin typeface="Aptos"/>
              </a:defRPr>
            </a:pPr>
            <a:r>
              <a:t>• Compare basic and improved prompts and identify the techniques responsible for better outputs.</a:t>
            </a:r>
          </a:p>
          <a:p>
            <a:pPr>
              <a:spcAft>
                <a:spcPts val="900"/>
              </a:spcAft>
              <a:defRPr sz="1350">
                <a:solidFill>
                  <a:srgbClr val="22272E"/>
                </a:solidFill>
                <a:latin typeface="Aptos"/>
              </a:defRPr>
            </a:pPr>
            <a:r>
              <a:t>• Study role assignment and its effect on tone, priorities and decision-making.</a:t>
            </a:r>
          </a:p>
          <a:p>
            <a:pPr>
              <a:spcAft>
                <a:spcPts val="900"/>
              </a:spcAft>
              <a:defRPr sz="1350">
                <a:solidFill>
                  <a:srgbClr val="22272E"/>
                </a:solidFill>
                <a:latin typeface="Aptos"/>
              </a:defRPr>
            </a:pPr>
            <a:r>
              <a:t>• Build connected multi-step prompt workflows.</a:t>
            </a:r>
          </a:p>
          <a:p>
            <a:pPr>
              <a:spcAft>
                <a:spcPts val="900"/>
              </a:spcAft>
              <a:defRPr sz="1350">
                <a:solidFill>
                  <a:srgbClr val="22272E"/>
                </a:solidFill>
                <a:latin typeface="Aptos"/>
              </a:defRPr>
            </a:pPr>
            <a:r>
              <a:t>• Develop responsible AI-use habits, including verification and institutional compliance.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Project Scope &amp; Major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257800" cy="196596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1" y="130759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5788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307592"/>
            <a:ext cx="43616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Prompt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10 prompts covering planning, learning, problem-solving, decision-making, summarization, ideas, writing, critical thinking, interviews and goal-setting.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43000"/>
            <a:ext cx="5257800" cy="196596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3952" y="130759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35788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307592"/>
            <a:ext cx="43616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Prompt 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288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5 basic prompts refined by adding context, audience, constraints, structure, measurable tasks and evaluation.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5257800" cy="196596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363931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68960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639312"/>
            <a:ext cx="43616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Prompt Role-Play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5 professional roles: Teacher, HR Professional, Event Planner, Career Advisor and Project Manager.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474720"/>
            <a:ext cx="5257800" cy="196596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3952" y="363931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8960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3639312"/>
            <a:ext cx="43616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Prompt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16052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4 connected stages for Software Developer interview preparation.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Methodology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0020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2A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1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644"/>
                </a:solidFill>
              </a:defRPr>
            </a:pPr>
            <a:r>
              <a:t>Define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2264" y="2084831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5DA0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1828800"/>
            <a:ext cx="160020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2A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2084831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644"/>
                </a:solidFill>
              </a:defRPr>
            </a:pPr>
            <a:r>
              <a:t>Design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2084831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5DA0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828800"/>
            <a:ext cx="160020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2A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2084831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644"/>
                </a:solidFill>
              </a:defRPr>
            </a:pPr>
            <a:r>
              <a:t>AI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084831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5DA0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1828800"/>
            <a:ext cx="160020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2A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084831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644"/>
                </a:solidFill>
              </a:defRPr>
            </a:pPr>
            <a:r>
              <a:t>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084831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5DA0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7032" y="1828800"/>
            <a:ext cx="160020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2A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084831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644"/>
                </a:solidFill>
              </a:defRPr>
            </a:pPr>
            <a:r>
              <a:t>Refine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6376" y="2084831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5DA0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1828800"/>
            <a:ext cx="160020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2A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084831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644"/>
                </a:solidFill>
              </a:defRPr>
            </a:pPr>
            <a:r>
              <a:t>Final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57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2272E"/>
                </a:solidFill>
                <a:latin typeface="Aptos"/>
              </a:defRPr>
            </a:pPr>
            <a:r>
              <a:t>• Experiment-and-refine methodology: each activity began with a practical goal, followed by prompt construction, AI testing, observation, comparison and documentation.</a:t>
            </a:r>
          </a:p>
          <a:p>
            <a:pPr>
              <a:spcAft>
                <a:spcPts val="900"/>
              </a:spcAft>
              <a:defRPr sz="1500">
                <a:solidFill>
                  <a:srgbClr val="22272E"/>
                </a:solidFill>
                <a:latin typeface="Aptos"/>
              </a:defRPr>
            </a:pPr>
            <a:r>
              <a:t>• The same cycle was applied across individual prompts, role-based prompts and connected workflows.</a:t>
            </a:r>
          </a:p>
          <a:p>
            <a:pPr>
              <a:spcAft>
                <a:spcPts val="900"/>
              </a:spcAft>
              <a:defRPr sz="1500">
                <a:solidFill>
                  <a:srgbClr val="22272E"/>
                </a:solidFill>
                <a:latin typeface="Aptos"/>
              </a:defRPr>
            </a:pPr>
            <a:r>
              <a:t>• Evaluation focused on relevance, clarity, completeness, structure and usefulness.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Task 1 — Prompt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09728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61356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 marL="54864" marR="54864" marT="36576" marB="36576">
                    <a:solidFill>
                      <a:srgbClr val="19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</a:t>
                      </a:r>
                    </a:p>
                  </a:txBody>
                  <a:tcPr marL="54864" marR="54864" marT="36576" marB="36576">
                    <a:solidFill>
                      <a:srgbClr val="19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Main Technique</a:t>
                      </a:r>
                    </a:p>
                  </a:txBody>
                  <a:tcPr marL="54864" marR="54864" marT="36576" marB="36576">
                    <a:solidFill>
                      <a:srgbClr val="192644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Planning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Study schedule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Context + constraints + format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Learning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Embeddings in Generative AI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Role + simple language + analogy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Problem-solving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Aptitude problem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Step-by-step + verification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Decision-making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₹3,000 choice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Criteria + scoring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Summarization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AI in everyday life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Word limit + structure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Idea generation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Technology projects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Constraints + ranking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Writing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AI-use paragraph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Audience + tone + word limit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Critical thinking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AI in academic assignments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Pros + cons + conclusion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Interview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Internship mock interview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Role + interaction rules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136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Goal-setting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30-day Java plan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Time limit + stages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Task 2 — Prompt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08660"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 marL="54864" marR="54864" marT="36576" marB="36576">
                    <a:solidFill>
                      <a:srgbClr val="19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Basic Prompt</a:t>
                      </a:r>
                    </a:p>
                  </a:txBody>
                  <a:tcPr marL="54864" marR="54864" marT="36576" marB="36576">
                    <a:solidFill>
                      <a:srgbClr val="19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Improvement Technique</a:t>
                      </a:r>
                    </a:p>
                  </a:txBody>
                  <a:tcPr marL="54864" marR="54864" marT="36576" marB="36576">
                    <a:solidFill>
                      <a:srgbClr val="19264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Learning a concept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“Explain machine learning.”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Audience + structure + constraints + examples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Study planning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“Make a study plan for my exams.”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Context + time constraints + priorities + format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Summarization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“Summarize Generative AI.”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Purpose + word limit + required content + tone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Programming skills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“How can I improve my programming?”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Specific goal + progression + measurable tasks + fallback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Decision-making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“Which skill should I learn first?”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Context + evaluation criteria + scoring + recommendation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650992"/>
            <a:ext cx="10561320" cy="566928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815583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Overall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336792"/>
            <a:ext cx="10104120" cy="-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Improved prompts were more immediately usable, consistent and aligned with the intended purpose.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Task 3 — Prompt Role-Play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010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54864" marR="54864" marT="36576" marB="36576">
                    <a:solidFill>
                      <a:srgbClr val="19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Tone / Focus</a:t>
                      </a:r>
                    </a:p>
                  </a:txBody>
                  <a:tcPr marL="54864" marR="54864" marT="36576" marB="36576">
                    <a:solidFill>
                      <a:srgbClr val="19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Response Style</a:t>
                      </a:r>
                    </a:p>
                  </a:txBody>
                  <a:tcPr marL="54864" marR="54864" marT="36576" marB="36576">
                    <a:solidFill>
                      <a:srgbClr val="19264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Teacher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Educational; understanding concepts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Explanations, examples, questions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HR Professional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Professional; employability &amp; behavior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Interview questions, sample answers, HR reasoning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Event Planner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Practical; execution &amp; logistics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Schedule, resources, engagement, risks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Career Advisor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Motivational; long-term development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Roadmap, milestones, measurable outcomes</a:t>
                      </a:r>
                    </a:p>
                  </a:txBody>
                  <a:tcPr marL="54864" marR="54864" marT="36576" marB="36576">
                    <a:solidFill>
                      <a:srgbClr val="F2F6F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Project Manager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Structured; delivery &amp; accountability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72E"/>
                          </a:solidFill>
                          <a:latin typeface="Aptos"/>
                        </a:defRPr>
                      </a:pPr>
                      <a:r>
                        <a:t>Scope, roles, deadlines, dependencies, risks, testing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57784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22272E"/>
                </a:solidFill>
                <a:latin typeface="Aptos"/>
              </a:defRPr>
            </a:pPr>
            <a:r>
              <a:t>• Strongest example in the report: Project Manager, because the role naturally supports planning, task allocation, risk management, deadlines, testing and accountability.</a:t>
            </a:r>
          </a:p>
          <a:p>
            <a:pPr>
              <a:spcAft>
                <a:spcPts val="900"/>
              </a:spcAft>
              <a:defRPr sz="1250">
                <a:solidFill>
                  <a:srgbClr val="22272E"/>
                </a:solidFill>
                <a:latin typeface="Aptos"/>
              </a:defRPr>
            </a:pPr>
            <a:r>
              <a:t>• Key finding: role + context + clear instructions produces a more focused result than a broad request.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Task 5 — Prompt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96012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35331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0360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353312"/>
            <a:ext cx="98023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Understand the Job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102412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Identify technical skills, soft skills, responsibilities and preparation topics.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0698480" cy="96012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54203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59232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542032"/>
            <a:ext cx="98023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Generate Interview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63240"/>
            <a:ext cx="102412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Create 8 technical, 4 HR/behavioural and 3 problem-solving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10698480" cy="96012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73075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8104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730752"/>
            <a:ext cx="98023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Practice &amp; Improve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51960"/>
            <a:ext cx="102412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Ask one at a time; score answers on five criteria and provide targeted feedback.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10698480" cy="96012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491947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96976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919472"/>
            <a:ext cx="98023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Final Preparation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440680"/>
            <a:ext cx="102412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Turn role analysis and feedback into a seven-day plan and interview-day checklist.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Technologies &amp;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192024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39903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4932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399032"/>
            <a:ext cx="4315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Generative AI / AI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Creation, testing, refinement, comparison, explanation, planning and mock-interview activities.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34440"/>
            <a:ext cx="5212080" cy="192024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9672" y="139903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44932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1399032"/>
            <a:ext cx="4315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Microsoft 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Preparation and organization of task documents and the final internship report.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212080" cy="192024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73075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8104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730752"/>
            <a:ext cx="4315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Prompt-engineering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5196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Role assignment, context, constraints, output formats, examples, evaluation criteria, interaction and verification.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566160"/>
            <a:ext cx="5212080" cy="192024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19672" y="3730752"/>
            <a:ext cx="438912" cy="43891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78104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30752"/>
            <a:ext cx="4315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Tables &amp; structured formats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5196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Comparison of responses, schedules, decision matrices, roadmaps, checklists and workflow stages.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Learning Outcomes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2272E"/>
                </a:solidFill>
                <a:latin typeface="Aptos"/>
              </a:defRPr>
            </a:pPr>
            <a:r>
              <a:t>• Improved ability to write clear, specific and goal-oriented prompts.</a:t>
            </a:r>
          </a:p>
          <a:p>
            <a:pPr>
              <a:spcAft>
                <a:spcPts val="900"/>
              </a:spcAft>
              <a:defRPr sz="1400">
                <a:solidFill>
                  <a:srgbClr val="22272E"/>
                </a:solidFill>
                <a:latin typeface="Aptos"/>
              </a:defRPr>
            </a:pPr>
            <a:r>
              <a:t>• Better understanding of how audience, context, constraints and output format influence AI responses.</a:t>
            </a:r>
          </a:p>
          <a:p>
            <a:pPr>
              <a:spcAft>
                <a:spcPts val="900"/>
              </a:spcAft>
              <a:defRPr sz="1400">
                <a:solidFill>
                  <a:srgbClr val="22272E"/>
                </a:solidFill>
                <a:latin typeface="Aptos"/>
              </a:defRPr>
            </a:pPr>
            <a:r>
              <a:t>• Ability to compare vague and structured prompts and explain why their outputs differ.</a:t>
            </a:r>
          </a:p>
          <a:p>
            <a:pPr>
              <a:spcAft>
                <a:spcPts val="900"/>
              </a:spcAft>
              <a:defRPr sz="1400">
                <a:solidFill>
                  <a:srgbClr val="22272E"/>
                </a:solidFill>
                <a:latin typeface="Aptos"/>
              </a:defRPr>
            </a:pPr>
            <a:r>
              <a:t>• Understanding of role-based prompting and how professional perspectives change priorities.</a:t>
            </a:r>
          </a:p>
          <a:p>
            <a:pPr>
              <a:spcAft>
                <a:spcPts val="900"/>
              </a:spcAft>
              <a:defRPr sz="1400">
                <a:solidFill>
                  <a:srgbClr val="22272E"/>
                </a:solidFill>
                <a:latin typeface="Aptos"/>
              </a:defRPr>
            </a:pPr>
            <a:r>
              <a:t>• Ability to design connected prompt workflows rather than treating AI as only a one-question/one-answer tool.</a:t>
            </a:r>
          </a:p>
          <a:p>
            <a:pPr>
              <a:spcAft>
                <a:spcPts val="900"/>
              </a:spcAft>
              <a:defRPr sz="1400">
                <a:solidFill>
                  <a:srgbClr val="22272E"/>
                </a:solidFill>
                <a:latin typeface="Aptos"/>
              </a:defRPr>
            </a:pPr>
            <a:r>
              <a:t>• Improved planning, communication, interview preparation and project-organization skills.</a:t>
            </a:r>
          </a:p>
          <a:p>
            <a:pPr>
              <a:spcAft>
                <a:spcPts val="900"/>
              </a:spcAft>
              <a:defRPr sz="1400">
                <a:solidFill>
                  <a:srgbClr val="22272E"/>
                </a:solidFill>
                <a:latin typeface="Aptos"/>
              </a:defRPr>
            </a:pPr>
            <a:r>
              <a:t>• Greater awareness of verification, independent thinking, responsible AI use and academic integrity.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508760"/>
            <a:ext cx="3794760" cy="3474720"/>
          </a:xfrm>
          <a:prstGeom prst="roundRect">
            <a:avLst/>
          </a:prstGeom>
          <a:solidFill>
            <a:srgbClr val="19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96596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Key Takeaway</a:t>
            </a:r>
          </a:p>
          <a:p>
            <a:pPr>
              <a:spcBef>
                <a:spcPts val="1800"/>
              </a:spcBef>
              <a:defRPr sz="1700">
                <a:solidFill>
                  <a:srgbClr val="FFFFFF"/>
                </a:solidFill>
              </a:defRPr>
            </a:pPr>
            <a:r>
              <a:t>“AI output becomes more useful when prompts provide clear role, context, objectives, constraints and evaluation.”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Challenges &amp; Responsible AI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Distinguishing useful AI output from generic or poorly aligned responses.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Refining prompts when important context, constraints or evaluation criteria are missing.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Keeping answers aligned with audience, purpose and required format.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Connecting multiple prompt stages without losing continuity.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Verifying AI-generated content and avoiding blind copying.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3657600" cy="338328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581912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2004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The internship emphasized verification, independent thinking, following institutional policies and using AI as an assistant rather than a substitute for judgment.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Overall Internship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66360" cy="356616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What I 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7091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• 10 prompt-creation examples</a:t>
            </a:r>
            <a:br/>
            <a:r>
              <a:t>• 5 prompt-improvement comparisons</a:t>
            </a:r>
            <a:br/>
            <a:r>
              <a:t>• 5 professional role-play perspectives</a:t>
            </a:r>
            <a:br/>
            <a:r>
              <a:t>• 1 four-step interview-preparation workflow</a:t>
            </a:r>
            <a:br/>
            <a:r>
              <a:t>• Structured documentation of 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166360" cy="356616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9903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What I Gained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091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• Prompt-design skills</a:t>
            </a:r>
            <a:br/>
            <a:r>
              <a:t>• Analytical comparison skills</a:t>
            </a:r>
            <a:br/>
            <a:r>
              <a:t>• Practical Generative AI literacy</a:t>
            </a:r>
            <a:br/>
            <a:r>
              <a:t>• Planning and communication skills</a:t>
            </a:r>
            <a:br/>
            <a:r>
              <a:t>• Interview-preparation skills</a:t>
            </a:r>
            <a:br/>
            <a:r>
              <a:t>• Responsible AI-use habits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644"/>
                </a:solidFill>
              </a:defRPr>
            </a:pPr>
            <a:r>
              <a:t>The internship converted prompt engineering from a theoretical concept into a repeatable practical skill.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Internship Recognition &amp; Supporting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14</a:t>
            </a:r>
          </a:p>
        </p:txBody>
      </p:sp>
      <p:pic>
        <p:nvPicPr>
          <p:cNvPr id="6" name="Picture 5" descr="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4754880" cy="61526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41732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Offer Letter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Certificate of Internship Completion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Certificate of Best Intern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Additional Certificate of Internship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Certificate of Appreciation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</a:defRPr>
            </a:pPr>
            <a:r>
              <a:t>Supporting documents are listed in the internship report; the certificate page is shown here as a visual 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644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9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80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1. InAmigos Foundation — internship-related certificates and official documentation provided to the student.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2. Internship Report Format — School of Computer Science and Engineering, IILM University, Greater Noida, U.P.</a:t>
            </a:r>
          </a:p>
          <a:p>
            <a:pPr>
              <a:spcAft>
                <a:spcPts val="900"/>
              </a:spcAft>
              <a:defRPr sz="1600">
                <a:solidFill>
                  <a:srgbClr val="22272E"/>
                </a:solidFill>
                <a:latin typeface="Aptos"/>
              </a:defRPr>
            </a:pPr>
            <a:r>
              <a:t>• 3. Internship learning materials, research notes, analytical observations and AI-assisted work prepared during the Prompt Engineering and Generative AI internship.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10515600" cy="1005840"/>
          </a:xfrm>
          <a:prstGeom prst="roundRect">
            <a:avLst/>
          </a:prstGeom>
          <a:solidFill>
            <a:srgbClr val="F2F6FB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736592"/>
            <a:ext cx="10104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644"/>
                </a:solidFill>
                <a:latin typeface="Aptos"/>
              </a:defRPr>
            </a:pPr>
            <a:r>
              <a:t>Source Basis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257800"/>
            <a:ext cx="10058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72E"/>
                </a:solidFill>
                <a:latin typeface="Aptos"/>
              </a:defRPr>
            </a:pPr>
            <a:r>
              <a:t>This presentation is adapted from Shreyas Yadav’s supplied presentation structure and rewritten using Shashank Raj’s supplied internship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  <a:latin typeface="Aptos"/>
              </a:defRPr>
            </a:pPr>
            <a:r>
              <a:t>IILM University • Prompt Engineering &amp; Generative AI   |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PROMPT ENGINEERING AND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2DCEB"/>
                </a:solidFill>
              </a:defRPr>
            </a:pPr>
            <a:r>
              <a:t>Shashank Raj • 25SCS1003001227 • B.Tech CSE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